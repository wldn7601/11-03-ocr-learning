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8"/>
    <p:restoredTop sz="94590"/>
  </p:normalViewPr>
  <p:slideViewPr>
    <p:cSldViewPr snapToGrid="0" snapToObjects="1">
      <p:cViewPr varScale="1">
        <p:scale>
          <a:sx n="105" d="100"/>
          <a:sy n="105" d="100"/>
        </p:scale>
        <p:origin x="95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1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EF60-77C3-56EE-C6E1-26ED1D83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E0AC6-9A72-47F6-EB24-2078D74D1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C793C-C846-CD64-A806-1F5475A17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0E053-30FC-2CED-00F7-41011A0E0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6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4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5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14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15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14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15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4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15.png"/><Relationship Id="rId9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14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15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437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143000"/>
            <a:ext cx="17145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1714500"/>
            <a:ext cx="22860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286000"/>
            <a:ext cx="28575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810000"/>
            <a:ext cx="26670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0" y="4381500"/>
            <a:ext cx="20955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0" y="4953000"/>
            <a:ext cx="15240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0" y="2952750"/>
            <a:ext cx="9525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1138" y="44577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9837" y="6293037"/>
            <a:ext cx="215526" cy="21552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8437" y="6293037"/>
            <a:ext cx="215526" cy="21552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27037" y="6293037"/>
            <a:ext cx="215526" cy="215526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329815" y="2190750"/>
            <a:ext cx="753237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1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기술의 이해와 활용</a:t>
            </a:r>
            <a:endParaRPr lang="en-US" sz="4500" dirty="0"/>
          </a:p>
        </p:txBody>
      </p:sp>
      <p:sp>
        <p:nvSpPr>
          <p:cNvPr id="17" name="Text 1"/>
          <p:cNvSpPr/>
          <p:nvPr/>
        </p:nvSpPr>
        <p:spPr>
          <a:xfrm>
            <a:off x="2329815" y="3181350"/>
            <a:ext cx="75323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카카오클라우드</a:t>
            </a:r>
            <a:r>
              <a:rPr lang="ko-KR" altLang="en-US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 박지우</a:t>
            </a: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5402580" y="4400550"/>
            <a:ext cx="1634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11월 3일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4765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895600"/>
            <a:ext cx="5429250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0480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2895600"/>
            <a:ext cx="5429250" cy="1447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0480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4572000"/>
            <a:ext cx="5429250" cy="1447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7244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4572000"/>
            <a:ext cx="5429250" cy="1447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724400"/>
            <a:ext cx="381000" cy="3810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개요: 정의 및 원리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723900" y="1181100"/>
            <a:ext cx="502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723900" y="1600200"/>
            <a:ext cx="11087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OCR(Optical Character Recognition, 광학 문자 인식)는 이미지 형태의 문서에서 인쇄되거나 손으로 쓴 문자를 컴퓨터가 편집 가능한 텍스트 데이터로 변환하는 기술입니다.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781050" y="24384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1023938" y="30480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1371600" y="3105150"/>
            <a:ext cx="1303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전처리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1409700" y="35052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이미지의 품질을 향상시키는 단계입니다. 이미지 보정(밝기, 대비 조절), 노이즈 제거, 기울기 보정, 이진화(흑백 이미지로 변환) 등이 포함됩니다.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6681788" y="30480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7029450" y="31051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영역 탐지</a:t>
            </a:r>
            <a:endParaRPr lang="en-US" sz="1500" dirty="0"/>
          </a:p>
        </p:txBody>
      </p:sp>
      <p:sp>
        <p:nvSpPr>
          <p:cNvPr id="23" name="Text 9"/>
          <p:cNvSpPr/>
          <p:nvPr/>
        </p:nvSpPr>
        <p:spPr>
          <a:xfrm>
            <a:off x="7067550" y="35052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전처리된 이미지에서 텍스트가 포함된 영역을 식별합니다. 주로 레이아웃 분석을 통해 텍스트 블록, 단락, 줄, 개별 문자 등을 구분하는 과정입니다.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1023938" y="47244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1371600" y="478155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 인식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1409700" y="51816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문자 영역 내의 개별 문자를 인식하는 단계입니다. 패턴 매칭, 특징 추출, 그리고 최근에는 딥러닝 기반의 신경망 모델을 활용하여 각 문자가 어떤 글자인지 판별합니다.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6681788" y="47244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7029450" y="4781550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변환</a:t>
            </a:r>
            <a:endParaRPr lang="en-US" sz="1500" dirty="0"/>
          </a:p>
        </p:txBody>
      </p:sp>
      <p:sp>
        <p:nvSpPr>
          <p:cNvPr id="29" name="Text 15"/>
          <p:cNvSpPr/>
          <p:nvPr/>
        </p:nvSpPr>
        <p:spPr>
          <a:xfrm>
            <a:off x="7067550" y="5181600"/>
            <a:ext cx="45910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인식된 개별 문자들을 조합하여 최종적으로 컴퓨터가 읽을 수 있는 텍스트 데이터로 변환합니다. 문맥 분석을 통해 오인식된 문자를 교정하거나, 단어 및 문장 구조를 재구성하여 정확도를 높이기도 합니다.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38300"/>
            <a:ext cx="5600700" cy="118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8288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1933575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009900"/>
            <a:ext cx="56007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2004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088" y="3305175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638300"/>
            <a:ext cx="560070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288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9388" y="1933575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009900"/>
            <a:ext cx="56007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200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7488" y="3305175"/>
            <a:ext cx="142875" cy="2667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활용 분야 (1): 금융 및 행정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723900" y="11811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분야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200150" y="18288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신분증 및 신용카드 인식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200150" y="21717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정보 입력 시간을 단축하고 오류를 최소화하여 신속한 계좌 개설 및 카드 발급을 지원합니다.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200150" y="32004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 자동 입력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200150" y="35433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신청서, 보험 청구서 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</a:t>
            </a:r>
            <a:r>
              <a:rPr lang="ko-KR" alt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금융 서류의 데이터를 자동으로 추출하여 시스템에 입력함으로써 수작업에 드는 시간과 인력을 절감합니다.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6324600" y="11811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분야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7029450" y="18288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민원 서류 처리 자동화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7029450" y="21717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주민등록등본, 가족관계증명서 등 다양한 민원 서류의 내용을 자동으로 인식하여 행정 시스템에 등록하고 분류합니다.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7029450" y="3200400"/>
            <a:ext cx="4591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고지서 및 영수증 처리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7029450" y="3543300"/>
            <a:ext cx="4591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고지서, 공과금 영수증 등의 정보를 자동으로 인식하여 납부 내역을 관리하고 회계 처리를 자동화합니다.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476250" cy="47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266825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809750"/>
            <a:ext cx="5448300" cy="1409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193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371850"/>
            <a:ext cx="54483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5814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1811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550" y="1266825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1809750"/>
            <a:ext cx="5448300" cy="1409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0193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3371850"/>
            <a:ext cx="54483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358140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활용 분야 (2): 의료 및 법률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971550" y="1266825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분야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914400" y="1962150"/>
            <a:ext cx="1783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의무 기록 디지털화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095375" y="230505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환자의 진료 기록, 검사 결과, 수술 기록 등 종이 문서를 디지털 데이터로 변환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095375" y="28384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정보 시스템에 통합하여 필요한 정보를 신속하게 검색하고 공유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933450" y="352425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처방전 인식 및 관리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1095375" y="38671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의사의 처방전을 자동으로 인식하여 약국 시스템에 연동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095375" y="4171950"/>
            <a:ext cx="495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약물 오남용 방지 및 재고 관리에 활용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800850" y="1266825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분야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6781800" y="1962150"/>
            <a:ext cx="315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및 법률 문서 데이터베이스화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924675" y="23050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수많은 판례, 법령, 계약서 등 법률 문서를 OCR로 디지털화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924675" y="2609850"/>
            <a:ext cx="4953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가능한 데이터베이스를 구축하여 변호사 및 법률 전문가들이 빠르게 정보를 찾아 업무 효율성 향상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781800" y="35242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자료 분석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6924675" y="38671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소송 관련 증거 자료(예: 계약서, 영수증)에서 핵심 정보를 추출하여 분석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6924675" y="41719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문서의 내용을 빠르게 확인하고 관련 정보를 도출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" y="38100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38300"/>
            <a:ext cx="54864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907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3" y="1876425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971800"/>
            <a:ext cx="54864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1242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209925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219200"/>
            <a:ext cx="2857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638300"/>
            <a:ext cx="54864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7907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1876425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971800"/>
            <a:ext cx="5486400" cy="1219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31242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6538" y="3209925"/>
            <a:ext cx="257175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활용 분야 (3): 교육 및 물류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781050" y="11811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분야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1162050" y="17907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 및 시험지 디지털화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62050" y="21336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교재나 시험지를 디지털 파일로 변환하여 온라인 학습 자료로 활용하거나, 접근성을 높이는 데 사용됩니다.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162050" y="31242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채점 시스템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1162050" y="34671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객관식 시험지나 주관식 답안지의 특정 부분을 OCR로 인식하여 자동으로 채점하고 결과를 분석합니다.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724650" y="11811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분야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7105650" y="17907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송장 및 택배 라벨 인식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7105650" y="21336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송장, 택배 라벨에 인쇄된 주소, 운송장 번호, 상품 정보 등을 자동으로 인식하여 물류 시스템에 입력합니다.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7105650" y="31242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 및 분류 자동화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7105650" y="3467100"/>
            <a:ext cx="4552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입출고되는 상품의 바코드나 제품 정보를 OCR로 인식하여 재고를 실시간으로 관리하고, 자동 분류 시스템과 연동하여 물류 효율성을 극대화합니다.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9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222885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457450"/>
            <a:ext cx="762000" cy="72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150" y="26289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3147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2228850"/>
            <a:ext cx="2438400" cy="2438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2457450"/>
            <a:ext cx="762000" cy="723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1688" y="2628900"/>
            <a:ext cx="42862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3147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7200" y="2228850"/>
            <a:ext cx="2438400" cy="2438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2457450"/>
            <a:ext cx="7620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7813" y="2533650"/>
            <a:ext cx="257175" cy="381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처리 과정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2106930" y="333375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이미지 입력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905000" y="3676650"/>
            <a:ext cx="19812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스캔된 문서, 사진 등 텍스트가 포함된 이미지가 OCR 시스템에 입력됩니다. 다양한 형식(JPEG, PNG, PDF 등)일 수 있습니다.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5375910" y="3333750"/>
            <a:ext cx="14401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엔진 처리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5105400" y="3676650"/>
            <a:ext cx="19812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입력된 이미지는 OCR 엔진을 통해 분석됩니다. 이미지 전처리, 문자 영역 탐지, 개별 문자 인식 등의 복잡한 알고리즘이 수행됩니다.</a:t>
            </a:r>
            <a:endParaRPr lang="en-US" sz="1050" dirty="0"/>
          </a:p>
        </p:txBody>
      </p:sp>
      <p:sp>
        <p:nvSpPr>
          <p:cNvPr id="20" name="Text 5"/>
          <p:cNvSpPr/>
          <p:nvPr/>
        </p:nvSpPr>
        <p:spPr>
          <a:xfrm>
            <a:off x="8404860" y="3143250"/>
            <a:ext cx="1783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추출된 텍스트 출력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8305800" y="3486150"/>
            <a:ext cx="1981200" cy="952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엔진의 처리 결과로, 이미지 내의 문자들이 디지털 텍스트 데이터로 변환되어 출력됩니다. 이 텍스트는 검색, 편집, 저장 등 다양한 목적으로 활용될 수 있습니다.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2438400" y="594360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처리 과정은 이미지 형태의 문서를 컴퓨터가 이해할 수 있는 텍스트 데이터로 변환하는 일련의 과정을 거칩니다. 이 과정들은 순차적으로 실행되어 최종적으로 디지털 텍스트를 생성합니다.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CCA48-D650-5376-63D0-6952BD53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5129B8C-CC17-B816-4117-06A17BB2F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2099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F13A28F-75EE-0F3F-DBED-A537ED5B0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6C423854-9596-0100-C58F-6C3C7E28C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943099"/>
            <a:ext cx="10835640" cy="3579877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E31890A9-7AEE-6134-F861-087C24B49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5867400"/>
            <a:ext cx="11430000" cy="609600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BE52C46A-9BD5-F62F-E51E-9E852C4A41C5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인식률 평가 방법</a:t>
            </a:r>
            <a:endParaRPr lang="en-US" sz="27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EF4CFF43-3967-2B6A-53E8-F64D1569CAF5}"/>
              </a:ext>
            </a:extLst>
          </p:cNvPr>
          <p:cNvSpPr/>
          <p:nvPr/>
        </p:nvSpPr>
        <p:spPr>
          <a:xfrm>
            <a:off x="381000" y="11811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시스템의 인식률은 다양한 요소에 따라 달라지며, 정확한 평가를 위해서는 체계적인 접근이 필요합니다.</a:t>
            </a:r>
            <a:endParaRPr lang="en-US" sz="13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15AD516-B539-3D43-2EB1-83A8F7090E27}"/>
              </a:ext>
            </a:extLst>
          </p:cNvPr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9</a:t>
            </a:r>
            <a:endParaRPr lang="en-US" sz="105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9C9AC665-7418-B93B-B580-C7A2BBF7FBDF}"/>
              </a:ext>
            </a:extLst>
          </p:cNvPr>
          <p:cNvSpPr/>
          <p:nvPr/>
        </p:nvSpPr>
        <p:spPr>
          <a:xfrm>
            <a:off x="545592" y="2057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 err="1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Levenshtein</a:t>
            </a: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endParaRPr lang="en-US" sz="27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2A8E7DD-DD54-A397-6535-03A0F847E3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92" y="2933699"/>
            <a:ext cx="6515100" cy="1892300"/>
          </a:xfrm>
          <a:prstGeom prst="rect">
            <a:avLst/>
          </a:prstGeom>
        </p:spPr>
      </p:pic>
      <p:sp>
        <p:nvSpPr>
          <p:cNvPr id="31" name="오른쪽 화살표[R] 30">
            <a:extLst>
              <a:ext uri="{FF2B5EF4-FFF2-40B4-BE49-F238E27FC236}">
                <a16:creationId xmlns:a16="http://schemas.microsoft.com/office/drawing/2014/main" id="{1FD5718D-0283-3BF7-B858-39432D7B06A4}"/>
              </a:ext>
            </a:extLst>
          </p:cNvPr>
          <p:cNvSpPr/>
          <p:nvPr/>
        </p:nvSpPr>
        <p:spPr>
          <a:xfrm>
            <a:off x="7239000" y="3668268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chemeClr val="tx1"/>
              </a:solidFill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2126476A-EA6A-77AF-27FC-87F1BE63693C}"/>
              </a:ext>
            </a:extLst>
          </p:cNvPr>
          <p:cNvSpPr/>
          <p:nvPr/>
        </p:nvSpPr>
        <p:spPr>
          <a:xfrm>
            <a:off x="8394573" y="2933699"/>
            <a:ext cx="2822067" cy="1892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텍스트와 </a:t>
            </a:r>
            <a:r>
              <a:rPr lang="en-US" altLang="ko-KR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</a:t>
            </a:r>
            <a:r>
              <a:rPr lang="ko-KR" alt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통해 추출한 텍스트를 비교하여 정확도 산출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57707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24000"/>
            <a:ext cx="11430000" cy="411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5791200"/>
            <a:ext cx="370835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750" y="5791200"/>
            <a:ext cx="370835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501" y="5791200"/>
            <a:ext cx="3708499" cy="6858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인식률 결과 비교 분석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381000" y="1104900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OCR 시스템의 인식률을 비교 분석하여 각 시스템의 성능을 평가했습니다.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685800" y="5905500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Pytesseract</a:t>
            </a:r>
            <a:r>
              <a:rPr lang="ko-KR" altLang="en-US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로 </a:t>
            </a:r>
            <a:r>
              <a:rPr lang="en-US" altLang="ko-KR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OCR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683270" y="6197642"/>
            <a:ext cx="3901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</a:t>
            </a:r>
            <a:r>
              <a:rPr lang="ko-KR" altLang="en-US" sz="1050" dirty="0" err="1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손글씨</a:t>
            </a:r>
            <a:r>
              <a:rPr lang="ko-KR" alt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텍스트로 정확도</a:t>
            </a: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비교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4622750" y="5943600"/>
            <a:ext cx="1701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OCR_Space</a:t>
            </a:r>
            <a:r>
              <a:rPr lang="ko-KR" altLang="en-US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로 </a:t>
            </a:r>
            <a:r>
              <a:rPr lang="en-US" altLang="ko-KR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OCR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584650" y="6172200"/>
            <a:ext cx="3901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8445401" y="5905500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pyMuPDF</a:t>
            </a:r>
            <a:r>
              <a:rPr lang="ko-KR" altLang="en-US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로 </a:t>
            </a:r>
            <a:r>
              <a:rPr lang="en-US" altLang="ko-KR" sz="12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</a:rPr>
              <a:t>OCR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8445401" y="6172200"/>
            <a:ext cx="39015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chemeClr val="bg1"/>
                </a:solidFill>
              </a:rPr>
              <a:t>한글 </a:t>
            </a:r>
            <a:r>
              <a:rPr lang="en-US" altLang="ko-KR" sz="1050" dirty="0">
                <a:solidFill>
                  <a:schemeClr val="bg1"/>
                </a:solidFill>
              </a:rPr>
              <a:t>pdf</a:t>
            </a:r>
            <a:r>
              <a:rPr lang="ko-KR" altLang="en-US" sz="1050" dirty="0">
                <a:solidFill>
                  <a:schemeClr val="bg1"/>
                </a:solidFill>
              </a:rPr>
              <a:t>로 정확도 비교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10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9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275DE-2B46-CBE4-2F4B-612EFDC817A3}"/>
              </a:ext>
            </a:extLst>
          </p:cNvPr>
          <p:cNvSpPr txBox="1"/>
          <p:nvPr/>
        </p:nvSpPr>
        <p:spPr>
          <a:xfrm>
            <a:off x="4490754" y="6172200"/>
            <a:ext cx="36676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050" dirty="0">
                <a:solidFill>
                  <a:schemeClr val="bg1"/>
                </a:solidFill>
              </a:rPr>
              <a:t>영어</a:t>
            </a:r>
            <a:r>
              <a:rPr kumimoji="1" lang="ko-KR" altLang="en-US" sz="1050" dirty="0">
                <a:solidFill>
                  <a:schemeClr val="bg1"/>
                </a:solidFill>
              </a:rPr>
              <a:t> </a:t>
            </a:r>
            <a:r>
              <a:rPr kumimoji="1" lang="ko-KR" altLang="en-US" sz="1050" dirty="0" err="1">
                <a:solidFill>
                  <a:schemeClr val="bg1"/>
                </a:solidFill>
              </a:rPr>
              <a:t>손글씨</a:t>
            </a:r>
            <a:r>
              <a:rPr kumimoji="1" lang="ko-KR" altLang="en-US" sz="1050" dirty="0">
                <a:solidFill>
                  <a:schemeClr val="bg1"/>
                </a:solidFill>
              </a:rPr>
              <a:t> 텍스트 및 한글 주민등록증으로 정확도 비교</a:t>
            </a:r>
            <a:endParaRPr kumimoji="1" lang="ko-Kore-KR" altLang="en-US" sz="1050" dirty="0">
              <a:solidFill>
                <a:schemeClr val="bg1"/>
              </a:solidFill>
            </a:endParaRPr>
          </a:p>
        </p:txBody>
      </p:sp>
      <p:pic>
        <p:nvPicPr>
          <p:cNvPr id="26" name="그림 25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307D6C-8790-A063-BC8B-9A5CB2BAA4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" y="1625621"/>
            <a:ext cx="3363926" cy="3911558"/>
          </a:xfrm>
          <a:prstGeom prst="rect">
            <a:avLst/>
          </a:prstGeom>
        </p:spPr>
      </p:pic>
      <p:pic>
        <p:nvPicPr>
          <p:cNvPr id="28" name="그림 27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EE0BF2-227D-3509-3A31-4FC1076858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8774" y="1619420"/>
            <a:ext cx="3590291" cy="3962400"/>
          </a:xfrm>
          <a:prstGeom prst="rect">
            <a:avLst/>
          </a:prstGeom>
        </p:spPr>
      </p:pic>
      <p:pic>
        <p:nvPicPr>
          <p:cNvPr id="30" name="그림 29" descr="텍스트, 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9DA0D8-9A3F-0081-16BE-3127098D34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444" y="1619420"/>
            <a:ext cx="3480343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32410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743200"/>
            <a:ext cx="539115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8575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971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2743200"/>
            <a:ext cx="5391150" cy="914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28575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297180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810000"/>
            <a:ext cx="5391150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39243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" y="40386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3810000"/>
            <a:ext cx="539115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0" y="39243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40386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5753100"/>
            <a:ext cx="10591800" cy="571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0E0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향후 발전 방향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723900" y="1104900"/>
            <a:ext cx="1085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723900" y="1524000"/>
            <a:ext cx="11087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OCR은 이미지 형태의 문서에서 텍스트를 추출하여 디지털화하고, 업무 효율성을 혁신하는 핵심 기술입니다. 다양한 산업 분야에서广泛应用되어 왔으며, AI 기술과의 결합을 통해 더욱 발전할 것입니다.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666750" y="2286000"/>
            <a:ext cx="1668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발전 방향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1371600" y="28575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기술과의 결합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1371600" y="3162300"/>
            <a:ext cx="4629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모델의 발전은 복잡한 배경, 다양한 글꼴, 저품질 이미지에서도 더욱 정확한 문자 인식을 가능하게 할 것입니다.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7067550" y="28575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문서 처리 능력 강화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7067550" y="3162300"/>
            <a:ext cx="4629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영수증, 계약서, 손글씨 문서 등 정형화되지 않은 문서에서 필요한 정보를 정확하게 추출하고 구조화하는 능력이 향상될 것입니다.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1371600" y="39243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다국어 번역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1371600" y="4229100"/>
            <a:ext cx="4629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OCR로 인식된 텍스트를 실시간으로 다른 언어로 번역하는 기능이 고도화되어 글로벌 커뮤니케이션에 기여할 것입니다.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7067550" y="39243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OCR 서비스 확대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7067550" y="4229100"/>
            <a:ext cx="4629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환경에서 OCR 서비스를 제공하여 접근성을 높이고, 대규모 데이터 처리 및 분석을 용이하게 할 것입니다.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-76200" y="5905500"/>
            <a:ext cx="1234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기술</a:t>
            </a:r>
            <a:r>
              <a:rPr lang="en-US" sz="1350" dirty="0">
                <a:solidFill>
                  <a:srgbClr val="D3D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지속적인 기술 혁신을 통해 비즈니스 프로세스 자동화와 데이터 기반 의사결정을 가능하게 하는 핵심 기술로 자리매김할 것입니다.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11525250" y="6515100"/>
            <a:ext cx="342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848</Words>
  <Application>Microsoft Macintosh PowerPoint</Application>
  <PresentationFormat>와이드스크린</PresentationFormat>
  <Paragraphs>106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박지우</cp:lastModifiedBy>
  <cp:revision>11</cp:revision>
  <dcterms:created xsi:type="dcterms:W3CDTF">2025-11-03T07:16:08Z</dcterms:created>
  <dcterms:modified xsi:type="dcterms:W3CDTF">2025-11-03T07:49:01Z</dcterms:modified>
</cp:coreProperties>
</file>